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2" r:id="rId5"/>
    <p:sldId id="263" r:id="rId6"/>
    <p:sldId id="259" r:id="rId7"/>
    <p:sldId id="260"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641CE1-223F-463B-B316-DE764F933833}" v="1902" dt="2022-03-14T05:34:54.2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3/13/2022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cs typeface="Calibri Light"/>
              </a:rPr>
              <a:t>Surprize</a:t>
            </a:r>
            <a:r>
              <a:rPr lang="en-US" dirty="0">
                <a:cs typeface="Calibri Light"/>
              </a:rPr>
              <a:t> Questions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82436-FC94-4F76-AF17-FD72CE260E92}"/>
              </a:ext>
            </a:extLst>
          </p:cNvPr>
          <p:cNvSpPr>
            <a:spLocks noGrp="1"/>
          </p:cNvSpPr>
          <p:nvPr>
            <p:ph type="title"/>
          </p:nvPr>
        </p:nvSpPr>
        <p:spPr/>
        <p:txBody>
          <a:bodyPr/>
          <a:lstStyle/>
          <a:p>
            <a:r>
              <a:rPr lang="en-US" dirty="0">
                <a:cs typeface="Calibri Light"/>
              </a:rPr>
              <a:t>1. Open-ended questions</a:t>
            </a:r>
          </a:p>
        </p:txBody>
      </p:sp>
      <p:pic>
        <p:nvPicPr>
          <p:cNvPr id="5" name="Picture 5" descr="Timeline&#10;&#10;Description automatically generated">
            <a:extLst>
              <a:ext uri="{FF2B5EF4-FFF2-40B4-BE49-F238E27FC236}">
                <a16:creationId xmlns:a16="http://schemas.microsoft.com/office/drawing/2014/main" id="{9E533D91-407D-450C-8592-72BA3630ECCF}"/>
              </a:ext>
            </a:extLst>
          </p:cNvPr>
          <p:cNvPicPr>
            <a:picLocks noChangeAspect="1"/>
          </p:cNvPicPr>
          <p:nvPr/>
        </p:nvPicPr>
        <p:blipFill>
          <a:blip r:embed="rId2"/>
          <a:stretch>
            <a:fillRect/>
          </a:stretch>
        </p:blipFill>
        <p:spPr>
          <a:xfrm>
            <a:off x="837729" y="2227520"/>
            <a:ext cx="2743200" cy="1771765"/>
          </a:xfrm>
          <a:prstGeom prst="rect">
            <a:avLst/>
          </a:prstGeom>
        </p:spPr>
      </p:pic>
      <p:pic>
        <p:nvPicPr>
          <p:cNvPr id="6" name="Picture 6" descr="Chart, bubble chart&#10;&#10;Description automatically generated">
            <a:extLst>
              <a:ext uri="{FF2B5EF4-FFF2-40B4-BE49-F238E27FC236}">
                <a16:creationId xmlns:a16="http://schemas.microsoft.com/office/drawing/2014/main" id="{FED8D378-01A2-4492-A1A1-E003FADD94A8}"/>
              </a:ext>
            </a:extLst>
          </p:cNvPr>
          <p:cNvPicPr>
            <a:picLocks noChangeAspect="1"/>
          </p:cNvPicPr>
          <p:nvPr/>
        </p:nvPicPr>
        <p:blipFill>
          <a:blip r:embed="rId3"/>
          <a:stretch>
            <a:fillRect/>
          </a:stretch>
        </p:blipFill>
        <p:spPr>
          <a:xfrm>
            <a:off x="5707912" y="1691328"/>
            <a:ext cx="5791200" cy="3741158"/>
          </a:xfrm>
          <a:prstGeom prst="rect">
            <a:avLst/>
          </a:prstGeom>
        </p:spPr>
      </p:pic>
    </p:spTree>
    <p:extLst>
      <p:ext uri="{BB962C8B-B14F-4D97-AF65-F5344CB8AC3E}">
        <p14:creationId xmlns:p14="http://schemas.microsoft.com/office/powerpoint/2010/main" val="2796607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10;&#10;Description automatically generated">
            <a:extLst>
              <a:ext uri="{FF2B5EF4-FFF2-40B4-BE49-F238E27FC236}">
                <a16:creationId xmlns:a16="http://schemas.microsoft.com/office/drawing/2014/main" id="{AEFA3537-52AE-433B-84FB-2A24757D81D1}"/>
              </a:ext>
            </a:extLst>
          </p:cNvPr>
          <p:cNvPicPr>
            <a:picLocks noChangeAspect="1"/>
          </p:cNvPicPr>
          <p:nvPr/>
        </p:nvPicPr>
        <p:blipFill>
          <a:blip r:embed="rId2"/>
          <a:stretch>
            <a:fillRect/>
          </a:stretch>
        </p:blipFill>
        <p:spPr>
          <a:xfrm>
            <a:off x="2334431" y="691891"/>
            <a:ext cx="5887655" cy="3206837"/>
          </a:xfrm>
          <a:prstGeom prst="rect">
            <a:avLst/>
          </a:prstGeom>
        </p:spPr>
      </p:pic>
      <p:sp>
        <p:nvSpPr>
          <p:cNvPr id="5" name="TextBox 4">
            <a:extLst>
              <a:ext uri="{FF2B5EF4-FFF2-40B4-BE49-F238E27FC236}">
                <a16:creationId xmlns:a16="http://schemas.microsoft.com/office/drawing/2014/main" id="{9F8AB8B1-8CA5-4CC8-A07F-639680E68FA7}"/>
              </a:ext>
            </a:extLst>
          </p:cNvPr>
          <p:cNvSpPr txBox="1"/>
          <p:nvPr/>
        </p:nvSpPr>
        <p:spPr>
          <a:xfrm>
            <a:off x="434925" y="256146"/>
            <a:ext cx="874173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1. Automatically identify general topics mentioned in all comments about the product </a:t>
            </a:r>
          </a:p>
        </p:txBody>
      </p:sp>
      <p:pic>
        <p:nvPicPr>
          <p:cNvPr id="6" name="Picture 6" descr="Table&#10;&#10;Description automatically generated">
            <a:extLst>
              <a:ext uri="{FF2B5EF4-FFF2-40B4-BE49-F238E27FC236}">
                <a16:creationId xmlns:a16="http://schemas.microsoft.com/office/drawing/2014/main" id="{4B78C65A-3C65-4995-9AE6-3C8548EE61EF}"/>
              </a:ext>
            </a:extLst>
          </p:cNvPr>
          <p:cNvPicPr>
            <a:picLocks noChangeAspect="1"/>
          </p:cNvPicPr>
          <p:nvPr/>
        </p:nvPicPr>
        <p:blipFill>
          <a:blip r:embed="rId3"/>
          <a:stretch>
            <a:fillRect/>
          </a:stretch>
        </p:blipFill>
        <p:spPr>
          <a:xfrm>
            <a:off x="1011865" y="5282213"/>
            <a:ext cx="2743200" cy="1237713"/>
          </a:xfrm>
          <a:prstGeom prst="rect">
            <a:avLst/>
          </a:prstGeom>
        </p:spPr>
      </p:pic>
      <p:sp>
        <p:nvSpPr>
          <p:cNvPr id="7" name="TextBox 6">
            <a:extLst>
              <a:ext uri="{FF2B5EF4-FFF2-40B4-BE49-F238E27FC236}">
                <a16:creationId xmlns:a16="http://schemas.microsoft.com/office/drawing/2014/main" id="{5F85C6AE-60D2-4824-85FC-DFCF43AB4624}"/>
              </a:ext>
            </a:extLst>
          </p:cNvPr>
          <p:cNvSpPr txBox="1"/>
          <p:nvPr/>
        </p:nvSpPr>
        <p:spPr>
          <a:xfrm>
            <a:off x="684027" y="4228213"/>
            <a:ext cx="470136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2. For each topic, show the # of users, reviews and the overall sentiment (how positive/negative people felt about those topics)</a:t>
            </a:r>
          </a:p>
        </p:txBody>
      </p:sp>
      <p:pic>
        <p:nvPicPr>
          <p:cNvPr id="8" name="Picture 8" descr="Timeline&#10;&#10;Description automatically generated">
            <a:extLst>
              <a:ext uri="{FF2B5EF4-FFF2-40B4-BE49-F238E27FC236}">
                <a16:creationId xmlns:a16="http://schemas.microsoft.com/office/drawing/2014/main" id="{EAF691E6-21DF-4A37-937D-58E018F81111}"/>
              </a:ext>
            </a:extLst>
          </p:cNvPr>
          <p:cNvPicPr>
            <a:picLocks noChangeAspect="1"/>
          </p:cNvPicPr>
          <p:nvPr/>
        </p:nvPicPr>
        <p:blipFill>
          <a:blip r:embed="rId4"/>
          <a:stretch>
            <a:fillRect/>
          </a:stretch>
        </p:blipFill>
        <p:spPr>
          <a:xfrm>
            <a:off x="6910692" y="4359573"/>
            <a:ext cx="4315427" cy="3149617"/>
          </a:xfrm>
          <a:prstGeom prst="rect">
            <a:avLst/>
          </a:prstGeom>
        </p:spPr>
      </p:pic>
      <p:sp>
        <p:nvSpPr>
          <p:cNvPr id="9" name="TextBox 8">
            <a:extLst>
              <a:ext uri="{FF2B5EF4-FFF2-40B4-BE49-F238E27FC236}">
                <a16:creationId xmlns:a16="http://schemas.microsoft.com/office/drawing/2014/main" id="{4802E299-ECDD-42DA-8BBB-2E04C719E2CB}"/>
              </a:ext>
            </a:extLst>
          </p:cNvPr>
          <p:cNvSpPr txBox="1"/>
          <p:nvPr/>
        </p:nvSpPr>
        <p:spPr>
          <a:xfrm>
            <a:off x="6915064" y="3726643"/>
            <a:ext cx="470136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Or 3. Show % of users who felt positively /negatively about each topic</a:t>
            </a:r>
            <a:endParaRPr lang="en-US" dirty="0"/>
          </a:p>
        </p:txBody>
      </p:sp>
      <p:sp>
        <p:nvSpPr>
          <p:cNvPr id="10" name="TextBox 9">
            <a:extLst>
              <a:ext uri="{FF2B5EF4-FFF2-40B4-BE49-F238E27FC236}">
                <a16:creationId xmlns:a16="http://schemas.microsoft.com/office/drawing/2014/main" id="{114BE7CA-B417-42CC-92DE-178488288173}"/>
              </a:ext>
            </a:extLst>
          </p:cNvPr>
          <p:cNvSpPr txBox="1"/>
          <p:nvPr/>
        </p:nvSpPr>
        <p:spPr>
          <a:xfrm>
            <a:off x="8657984" y="256692"/>
            <a:ext cx="274319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Example topics:</a:t>
            </a:r>
          </a:p>
          <a:p>
            <a:pPr marL="285750" indent="-285750">
              <a:buFont typeface="Arial"/>
              <a:buChar char="•"/>
            </a:pPr>
            <a:r>
              <a:rPr lang="en-US" dirty="0">
                <a:cs typeface="Calibri"/>
              </a:rPr>
              <a:t>Packaging</a:t>
            </a:r>
          </a:p>
          <a:p>
            <a:pPr marL="285750" indent="-285750">
              <a:buFont typeface="Arial"/>
              <a:buChar char="•"/>
            </a:pPr>
            <a:r>
              <a:rPr lang="en-US" dirty="0">
                <a:cs typeface="Calibri"/>
              </a:rPr>
              <a:t>Size and weight</a:t>
            </a:r>
          </a:p>
          <a:p>
            <a:pPr marL="285750" indent="-285750">
              <a:buFont typeface="Arial"/>
              <a:buChar char="•"/>
            </a:pPr>
            <a:r>
              <a:rPr lang="en-US" dirty="0">
                <a:cs typeface="Calibri"/>
              </a:rPr>
              <a:t>Taste</a:t>
            </a:r>
          </a:p>
          <a:p>
            <a:pPr marL="285750" indent="-285750">
              <a:buFont typeface="Arial"/>
              <a:buChar char="•"/>
            </a:pPr>
            <a:r>
              <a:rPr lang="en-US" dirty="0">
                <a:cs typeface="Calibri"/>
              </a:rPr>
              <a:t>Hard to use</a:t>
            </a:r>
          </a:p>
          <a:p>
            <a:pPr marL="285750" indent="-285750">
              <a:buFont typeface="Arial"/>
              <a:buChar char="•"/>
            </a:pPr>
            <a:r>
              <a:rPr lang="en-US" dirty="0">
                <a:cs typeface="Calibri"/>
              </a:rPr>
              <a:t>Distrust of product</a:t>
            </a:r>
          </a:p>
        </p:txBody>
      </p:sp>
    </p:spTree>
    <p:extLst>
      <p:ext uri="{BB962C8B-B14F-4D97-AF65-F5344CB8AC3E}">
        <p14:creationId xmlns:p14="http://schemas.microsoft.com/office/powerpoint/2010/main" val="1940024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86741-51F0-47A6-B1C2-E862D175F601}"/>
              </a:ext>
            </a:extLst>
          </p:cNvPr>
          <p:cNvSpPr>
            <a:spLocks noGrp="1"/>
          </p:cNvSpPr>
          <p:nvPr>
            <p:ph type="title"/>
          </p:nvPr>
        </p:nvSpPr>
        <p:spPr/>
        <p:txBody>
          <a:bodyPr/>
          <a:lstStyle/>
          <a:p>
            <a:r>
              <a:rPr lang="en-US" dirty="0">
                <a:ea typeface="Calibri Light"/>
                <a:cs typeface="Calibri Light"/>
              </a:rPr>
              <a:t>Rejection Report</a:t>
            </a:r>
          </a:p>
        </p:txBody>
      </p:sp>
      <p:pic>
        <p:nvPicPr>
          <p:cNvPr id="5" name="Picture 5" descr="Timeline&#10;&#10;Description automatically generated">
            <a:extLst>
              <a:ext uri="{FF2B5EF4-FFF2-40B4-BE49-F238E27FC236}">
                <a16:creationId xmlns:a16="http://schemas.microsoft.com/office/drawing/2014/main" id="{332EBECF-D638-44C9-928C-9D9883332164}"/>
              </a:ext>
            </a:extLst>
          </p:cNvPr>
          <p:cNvPicPr>
            <a:picLocks noChangeAspect="1"/>
          </p:cNvPicPr>
          <p:nvPr/>
        </p:nvPicPr>
        <p:blipFill rotWithShape="1">
          <a:blip r:embed="rId2"/>
          <a:srcRect r="-155" b="30048"/>
          <a:stretch/>
        </p:blipFill>
        <p:spPr>
          <a:xfrm>
            <a:off x="1296903" y="1223147"/>
            <a:ext cx="5733335" cy="2582904"/>
          </a:xfrm>
          <a:prstGeom prst="rect">
            <a:avLst/>
          </a:prstGeom>
        </p:spPr>
      </p:pic>
      <p:pic>
        <p:nvPicPr>
          <p:cNvPr id="7" name="Picture 6" descr="Chart, bubble chart&#10;&#10;Description automatically generated">
            <a:extLst>
              <a:ext uri="{FF2B5EF4-FFF2-40B4-BE49-F238E27FC236}">
                <a16:creationId xmlns:a16="http://schemas.microsoft.com/office/drawing/2014/main" id="{8E78A8B7-DF4E-4EE3-B253-8DF30CE1EDC1}"/>
              </a:ext>
            </a:extLst>
          </p:cNvPr>
          <p:cNvPicPr>
            <a:picLocks noChangeAspect="1"/>
          </p:cNvPicPr>
          <p:nvPr/>
        </p:nvPicPr>
        <p:blipFill rotWithShape="1">
          <a:blip r:embed="rId3"/>
          <a:srcRect l="31614" t="46392" r="32446"/>
          <a:stretch/>
        </p:blipFill>
        <p:spPr>
          <a:xfrm>
            <a:off x="8456900" y="263783"/>
            <a:ext cx="3238838" cy="3114812"/>
          </a:xfrm>
          <a:prstGeom prst="rect">
            <a:avLst/>
          </a:prstGeom>
        </p:spPr>
      </p:pic>
      <p:graphicFrame>
        <p:nvGraphicFramePr>
          <p:cNvPr id="9" name="Table 8">
            <a:extLst>
              <a:ext uri="{FF2B5EF4-FFF2-40B4-BE49-F238E27FC236}">
                <a16:creationId xmlns:a16="http://schemas.microsoft.com/office/drawing/2014/main" id="{11D1D253-00F6-4234-85CD-3CFA951BB5C0}"/>
              </a:ext>
            </a:extLst>
          </p:cNvPr>
          <p:cNvGraphicFramePr>
            <a:graphicFrameLocks noGrp="1"/>
          </p:cNvGraphicFramePr>
          <p:nvPr>
            <p:extLst>
              <p:ext uri="{D42A27DB-BD31-4B8C-83A1-F6EECF244321}">
                <p14:modId xmlns:p14="http://schemas.microsoft.com/office/powerpoint/2010/main" val="9128633"/>
              </p:ext>
            </p:extLst>
          </p:nvPr>
        </p:nvGraphicFramePr>
        <p:xfrm>
          <a:off x="669824" y="4072938"/>
          <a:ext cx="11040438" cy="2103120"/>
        </p:xfrm>
        <a:graphic>
          <a:graphicData uri="http://schemas.openxmlformats.org/drawingml/2006/table">
            <a:tbl>
              <a:tblPr firstRow="1" bandRow="1">
                <a:tableStyleId>{5C22544A-7EE6-4342-B048-85BDC9FD1C3A}</a:tableStyleId>
              </a:tblPr>
              <a:tblGrid>
                <a:gridCol w="2905124">
                  <a:extLst>
                    <a:ext uri="{9D8B030D-6E8A-4147-A177-3AD203B41FA5}">
                      <a16:colId xmlns:a16="http://schemas.microsoft.com/office/drawing/2014/main" val="864053707"/>
                    </a:ext>
                  </a:extLst>
                </a:gridCol>
                <a:gridCol w="1276350">
                  <a:extLst>
                    <a:ext uri="{9D8B030D-6E8A-4147-A177-3AD203B41FA5}">
                      <a16:colId xmlns:a16="http://schemas.microsoft.com/office/drawing/2014/main" val="64986779"/>
                    </a:ext>
                  </a:extLst>
                </a:gridCol>
                <a:gridCol w="1600200">
                  <a:extLst>
                    <a:ext uri="{9D8B030D-6E8A-4147-A177-3AD203B41FA5}">
                      <a16:colId xmlns:a16="http://schemas.microsoft.com/office/drawing/2014/main" val="2749132921"/>
                    </a:ext>
                  </a:extLst>
                </a:gridCol>
                <a:gridCol w="1600200">
                  <a:extLst>
                    <a:ext uri="{9D8B030D-6E8A-4147-A177-3AD203B41FA5}">
                      <a16:colId xmlns:a16="http://schemas.microsoft.com/office/drawing/2014/main" val="2163091953"/>
                    </a:ext>
                  </a:extLst>
                </a:gridCol>
                <a:gridCol w="1829282">
                  <a:extLst>
                    <a:ext uri="{9D8B030D-6E8A-4147-A177-3AD203B41FA5}">
                      <a16:colId xmlns:a16="http://schemas.microsoft.com/office/drawing/2014/main" val="959065086"/>
                    </a:ext>
                  </a:extLst>
                </a:gridCol>
                <a:gridCol w="1829282">
                  <a:extLst>
                    <a:ext uri="{9D8B030D-6E8A-4147-A177-3AD203B41FA5}">
                      <a16:colId xmlns:a16="http://schemas.microsoft.com/office/drawing/2014/main" val="1337609934"/>
                    </a:ext>
                  </a:extLst>
                </a:gridCol>
              </a:tblGrid>
              <a:tr h="361950">
                <a:tc>
                  <a:txBody>
                    <a:bodyPr/>
                    <a:lstStyle/>
                    <a:p>
                      <a:pPr fontAlgn="base"/>
                      <a:r>
                        <a:rPr lang="en-US" sz="1800" dirty="0">
                          <a:effectLst/>
                        </a:rPr>
                        <a:t>Topic​</a:t>
                      </a:r>
                      <a:endParaRPr lang="en-US" b="1" dirty="0">
                        <a:solidFill>
                          <a:srgbClr val="FFFFFF"/>
                        </a:solidFill>
                        <a:effectLst/>
                      </a:endParaRPr>
                    </a:p>
                  </a:txBody>
                  <a:tcPr/>
                </a:tc>
                <a:tc>
                  <a:txBody>
                    <a:bodyPr/>
                    <a:lstStyle/>
                    <a:p>
                      <a:pPr fontAlgn="base"/>
                      <a:r>
                        <a:rPr lang="en-US" sz="1800" dirty="0">
                          <a:effectLst/>
                        </a:rPr>
                        <a:t># reviews​</a:t>
                      </a:r>
                      <a:endParaRPr lang="en-US" b="1" dirty="0">
                        <a:solidFill>
                          <a:srgbClr val="FFFFFF"/>
                        </a:solidFill>
                        <a:effectLst/>
                      </a:endParaRPr>
                    </a:p>
                  </a:txBody>
                  <a:tcPr/>
                </a:tc>
                <a:tc>
                  <a:txBody>
                    <a:bodyPr/>
                    <a:lstStyle/>
                    <a:p>
                      <a:pPr fontAlgn="base"/>
                      <a:r>
                        <a:rPr lang="en-US" sz="1800" dirty="0">
                          <a:effectLst/>
                        </a:rPr>
                        <a:t>% of total​</a:t>
                      </a:r>
                      <a:endParaRPr lang="en-US" b="1" dirty="0">
                        <a:solidFill>
                          <a:srgbClr val="FFFFFF"/>
                        </a:solidFill>
                        <a:effectLst/>
                      </a:endParaRPr>
                    </a:p>
                  </a:txBody>
                  <a:tcPr/>
                </a:tc>
                <a:tc>
                  <a:txBody>
                    <a:bodyPr/>
                    <a:lstStyle/>
                    <a:p>
                      <a:pPr fontAlgn="base"/>
                      <a:r>
                        <a:rPr lang="en-US" sz="1800" dirty="0">
                          <a:effectLst/>
                        </a:rPr>
                        <a:t>Overall Sentiment Score (0-1)​</a:t>
                      </a:r>
                      <a:endParaRPr lang="en-US" b="1" dirty="0">
                        <a:solidFill>
                          <a:srgbClr val="FFFFFF"/>
                        </a:solidFill>
                        <a:effectLst/>
                      </a:endParaRPr>
                    </a:p>
                  </a:txBody>
                  <a:tcPr/>
                </a:tc>
                <a:tc>
                  <a:txBody>
                    <a:bodyPr/>
                    <a:lstStyle/>
                    <a:p>
                      <a:pPr fontAlgn="base"/>
                      <a:r>
                        <a:rPr lang="en-US" sz="1800" dirty="0">
                          <a:effectLst/>
                        </a:rPr>
                        <a:t>% positive reviews​</a:t>
                      </a:r>
                      <a:endParaRPr lang="en-US" b="1" dirty="0">
                        <a:solidFill>
                          <a:srgbClr val="FFFFFF"/>
                        </a:solidFill>
                        <a:effectLst/>
                      </a:endParaRPr>
                    </a:p>
                  </a:txBody>
                  <a:tcPr/>
                </a:tc>
                <a:tc>
                  <a:txBody>
                    <a:bodyPr/>
                    <a:lstStyle/>
                    <a:p>
                      <a:pPr fontAlgn="base"/>
                      <a:r>
                        <a:rPr lang="en-US" sz="1800" dirty="0">
                          <a:effectLst/>
                        </a:rPr>
                        <a:t>% negative reviews​</a:t>
                      </a:r>
                      <a:endParaRPr lang="en-US" b="1" dirty="0">
                        <a:solidFill>
                          <a:srgbClr val="FFFFFF"/>
                        </a:solidFill>
                        <a:effectLst/>
                      </a:endParaRPr>
                    </a:p>
                  </a:txBody>
                  <a:tcPr/>
                </a:tc>
                <a:extLst>
                  <a:ext uri="{0D108BD9-81ED-4DB2-BD59-A6C34878D82A}">
                    <a16:rowId xmlns:a16="http://schemas.microsoft.com/office/drawing/2014/main" val="3118439454"/>
                  </a:ext>
                </a:extLst>
              </a:tr>
              <a:tr h="361950">
                <a:tc>
                  <a:txBody>
                    <a:bodyPr/>
                    <a:lstStyle/>
                    <a:p>
                      <a:pPr fontAlgn="base"/>
                      <a:r>
                        <a:rPr lang="en-US" sz="1800" b="1" dirty="0">
                          <a:effectLst/>
                        </a:rPr>
                        <a:t>Overall​</a:t>
                      </a:r>
                      <a:endParaRPr lang="en-US" b="1">
                        <a:effectLst/>
                      </a:endParaRPr>
                    </a:p>
                  </a:txBody>
                  <a:tcPr/>
                </a:tc>
                <a:tc>
                  <a:txBody>
                    <a:bodyPr/>
                    <a:lstStyle/>
                    <a:p>
                      <a:pPr fontAlgn="base"/>
                      <a:r>
                        <a:rPr lang="en-US" sz="1800" b="1" dirty="0">
                          <a:effectLst/>
                        </a:rPr>
                        <a:t>30​</a:t>
                      </a:r>
                      <a:endParaRPr lang="en-US" b="1">
                        <a:effectLst/>
                      </a:endParaRPr>
                    </a:p>
                  </a:txBody>
                  <a:tcPr/>
                </a:tc>
                <a:tc>
                  <a:txBody>
                    <a:bodyPr/>
                    <a:lstStyle/>
                    <a:p>
                      <a:pPr fontAlgn="base"/>
                      <a:r>
                        <a:rPr lang="en-US" sz="1800" b="1" dirty="0">
                          <a:effectLst/>
                        </a:rPr>
                        <a:t>1​00%</a:t>
                      </a:r>
                      <a:endParaRPr lang="en-US" b="1" dirty="0">
                        <a:effectLst/>
                      </a:endParaRPr>
                    </a:p>
                  </a:txBody>
                  <a:tcPr/>
                </a:tc>
                <a:tc>
                  <a:txBody>
                    <a:bodyPr/>
                    <a:lstStyle/>
                    <a:p>
                      <a:pPr fontAlgn="base"/>
                      <a:r>
                        <a:rPr lang="en-US" sz="1800" b="1" dirty="0">
                          <a:effectLst/>
                        </a:rPr>
                        <a:t>0.39​</a:t>
                      </a:r>
                      <a:endParaRPr lang="en-US" b="1">
                        <a:effectLst/>
                      </a:endParaRPr>
                    </a:p>
                  </a:txBody>
                  <a:tcPr/>
                </a:tc>
                <a:tc>
                  <a:txBody>
                    <a:bodyPr/>
                    <a:lstStyle/>
                    <a:p>
                      <a:pPr fontAlgn="base"/>
                      <a:r>
                        <a:rPr lang="en-US" sz="1800" b="1" dirty="0">
                          <a:effectLst/>
                        </a:rPr>
                        <a:t>40%</a:t>
                      </a:r>
                      <a:endParaRPr lang="en-US" b="1" dirty="0">
                        <a:effectLst/>
                      </a:endParaRPr>
                    </a:p>
                  </a:txBody>
                  <a:tcPr/>
                </a:tc>
                <a:tc>
                  <a:txBody>
                    <a:bodyPr/>
                    <a:lstStyle/>
                    <a:p>
                      <a:pPr fontAlgn="base"/>
                      <a:r>
                        <a:rPr lang="en-US" sz="1800" b="1" dirty="0">
                          <a:effectLst/>
                        </a:rPr>
                        <a:t>60%</a:t>
                      </a:r>
                      <a:endParaRPr lang="en-US" b="1" dirty="0">
                        <a:effectLst/>
                      </a:endParaRPr>
                    </a:p>
                  </a:txBody>
                  <a:tcPr/>
                </a:tc>
                <a:extLst>
                  <a:ext uri="{0D108BD9-81ED-4DB2-BD59-A6C34878D82A}">
                    <a16:rowId xmlns:a16="http://schemas.microsoft.com/office/drawing/2014/main" val="1930448210"/>
                  </a:ext>
                </a:extLst>
              </a:tr>
              <a:tr h="361950">
                <a:tc>
                  <a:txBody>
                    <a:bodyPr/>
                    <a:lstStyle/>
                    <a:p>
                      <a:pPr fontAlgn="base"/>
                      <a:r>
                        <a:rPr lang="en-US" sz="1800" dirty="0">
                          <a:effectLst/>
                        </a:rPr>
                        <a:t>Uncertainty about brand​</a:t>
                      </a:r>
                      <a:endParaRPr lang="en-US" dirty="0">
                        <a:effectLst/>
                      </a:endParaRPr>
                    </a:p>
                  </a:txBody>
                  <a:tcPr/>
                </a:tc>
                <a:tc>
                  <a:txBody>
                    <a:bodyPr/>
                    <a:lstStyle/>
                    <a:p>
                      <a:pPr fontAlgn="base"/>
                      <a:r>
                        <a:rPr lang="en-US" sz="1800" dirty="0">
                          <a:effectLst/>
                        </a:rPr>
                        <a:t>13​</a:t>
                      </a:r>
                      <a:endParaRPr lang="en-US" dirty="0">
                        <a:effectLst/>
                      </a:endParaRPr>
                    </a:p>
                  </a:txBody>
                  <a:tcPr/>
                </a:tc>
                <a:tc>
                  <a:txBody>
                    <a:bodyPr/>
                    <a:lstStyle/>
                    <a:p>
                      <a:pPr fontAlgn="base"/>
                      <a:r>
                        <a:rPr lang="en-US" sz="1800" dirty="0">
                          <a:effectLst/>
                        </a:rPr>
                        <a:t>43​%</a:t>
                      </a:r>
                      <a:endParaRPr lang="en-US" dirty="0">
                        <a:effectLst/>
                      </a:endParaRPr>
                    </a:p>
                  </a:txBody>
                  <a:tcPr/>
                </a:tc>
                <a:tc>
                  <a:txBody>
                    <a:bodyPr/>
                    <a:lstStyle/>
                    <a:p>
                      <a:pPr fontAlgn="base"/>
                      <a:r>
                        <a:rPr lang="en-US" sz="1800" dirty="0">
                          <a:effectLst/>
                        </a:rPr>
                        <a:t>0.23​</a:t>
                      </a:r>
                      <a:endParaRPr lang="en-US" dirty="0">
                        <a:effectLst/>
                      </a:endParaRPr>
                    </a:p>
                  </a:txBody>
                  <a:tcPr/>
                </a:tc>
                <a:tc>
                  <a:txBody>
                    <a:bodyPr/>
                    <a:lstStyle/>
                    <a:p>
                      <a:pPr fontAlgn="base"/>
                      <a:r>
                        <a:rPr lang="en-US" sz="1800" dirty="0">
                          <a:effectLst/>
                        </a:rPr>
                        <a:t>4​4%</a:t>
                      </a:r>
                      <a:endParaRPr lang="en-US" dirty="0">
                        <a:effectLst/>
                      </a:endParaRPr>
                    </a:p>
                  </a:txBody>
                  <a:tcPr/>
                </a:tc>
                <a:tc>
                  <a:txBody>
                    <a:bodyPr/>
                    <a:lstStyle/>
                    <a:p>
                      <a:pPr fontAlgn="base"/>
                      <a:r>
                        <a:rPr lang="en-US" sz="1800" dirty="0">
                          <a:effectLst/>
                        </a:rPr>
                        <a:t>56%</a:t>
                      </a:r>
                      <a:endParaRPr lang="en-US" dirty="0">
                        <a:effectLst/>
                      </a:endParaRPr>
                    </a:p>
                  </a:txBody>
                  <a:tcPr/>
                </a:tc>
                <a:extLst>
                  <a:ext uri="{0D108BD9-81ED-4DB2-BD59-A6C34878D82A}">
                    <a16:rowId xmlns:a16="http://schemas.microsoft.com/office/drawing/2014/main" val="59436434"/>
                  </a:ext>
                </a:extLst>
              </a:tr>
              <a:tr h="361950">
                <a:tc>
                  <a:txBody>
                    <a:bodyPr/>
                    <a:lstStyle/>
                    <a:p>
                      <a:pPr fontAlgn="base"/>
                      <a:r>
                        <a:rPr lang="en-US" sz="1800" dirty="0">
                          <a:effectLst/>
                        </a:rPr>
                        <a:t>Own similar product​</a:t>
                      </a:r>
                      <a:endParaRPr lang="en-US" dirty="0">
                        <a:effectLst/>
                      </a:endParaRPr>
                    </a:p>
                  </a:txBody>
                  <a:tcPr/>
                </a:tc>
                <a:tc>
                  <a:txBody>
                    <a:bodyPr/>
                    <a:lstStyle/>
                    <a:p>
                      <a:pPr fontAlgn="base"/>
                      <a:r>
                        <a:rPr lang="en-US" sz="1800" dirty="0">
                          <a:effectLst/>
                        </a:rPr>
                        <a:t>7​</a:t>
                      </a:r>
                      <a:endParaRPr lang="en-US" dirty="0">
                        <a:effectLst/>
                      </a:endParaRPr>
                    </a:p>
                  </a:txBody>
                  <a:tcPr/>
                </a:tc>
                <a:tc>
                  <a:txBody>
                    <a:bodyPr/>
                    <a:lstStyle/>
                    <a:p>
                      <a:pPr fontAlgn="base"/>
                      <a:r>
                        <a:rPr lang="en-US" sz="1800" dirty="0">
                          <a:effectLst/>
                        </a:rPr>
                        <a:t>23​%</a:t>
                      </a:r>
                      <a:endParaRPr lang="en-US" dirty="0">
                        <a:effectLst/>
                      </a:endParaRPr>
                    </a:p>
                  </a:txBody>
                  <a:tcPr/>
                </a:tc>
                <a:tc>
                  <a:txBody>
                    <a:bodyPr/>
                    <a:lstStyle/>
                    <a:p>
                      <a:pPr fontAlgn="base"/>
                      <a:r>
                        <a:rPr lang="en-US" sz="1800" dirty="0">
                          <a:effectLst/>
                        </a:rPr>
                        <a:t>0.49​</a:t>
                      </a:r>
                      <a:endParaRPr lang="en-US" dirty="0">
                        <a:effectLst/>
                      </a:endParaRPr>
                    </a:p>
                  </a:txBody>
                  <a:tcPr/>
                </a:tc>
                <a:tc>
                  <a:txBody>
                    <a:bodyPr/>
                    <a:lstStyle/>
                    <a:p>
                      <a:pPr fontAlgn="base"/>
                      <a:r>
                        <a:rPr lang="en-US" sz="1800" dirty="0">
                          <a:effectLst/>
                        </a:rPr>
                        <a:t>43%</a:t>
                      </a:r>
                      <a:endParaRPr lang="en-US" dirty="0">
                        <a:effectLst/>
                      </a:endParaRPr>
                    </a:p>
                  </a:txBody>
                  <a:tcPr/>
                </a:tc>
                <a:tc>
                  <a:txBody>
                    <a:bodyPr/>
                    <a:lstStyle/>
                    <a:p>
                      <a:pPr fontAlgn="base"/>
                      <a:r>
                        <a:rPr lang="en-US" sz="1800" dirty="0">
                          <a:effectLst/>
                        </a:rPr>
                        <a:t>57%</a:t>
                      </a:r>
                      <a:endParaRPr lang="en-US" dirty="0">
                        <a:effectLst/>
                      </a:endParaRPr>
                    </a:p>
                  </a:txBody>
                  <a:tcPr/>
                </a:tc>
                <a:extLst>
                  <a:ext uri="{0D108BD9-81ED-4DB2-BD59-A6C34878D82A}">
                    <a16:rowId xmlns:a16="http://schemas.microsoft.com/office/drawing/2014/main" val="1519044295"/>
                  </a:ext>
                </a:extLst>
              </a:tr>
              <a:tr h="361950">
                <a:tc>
                  <a:txBody>
                    <a:bodyPr/>
                    <a:lstStyle/>
                    <a:p>
                      <a:pPr fontAlgn="base"/>
                      <a:r>
                        <a:rPr lang="en-US" sz="1800" dirty="0">
                          <a:effectLst/>
                        </a:rPr>
                        <a:t>Not interested​</a:t>
                      </a:r>
                      <a:endParaRPr lang="en-US" dirty="0">
                        <a:effectLst/>
                      </a:endParaRPr>
                    </a:p>
                  </a:txBody>
                  <a:tcPr/>
                </a:tc>
                <a:tc>
                  <a:txBody>
                    <a:bodyPr/>
                    <a:lstStyle/>
                    <a:p>
                      <a:pPr fontAlgn="base"/>
                      <a:r>
                        <a:rPr lang="en-US" sz="1800" dirty="0">
                          <a:effectLst/>
                        </a:rPr>
                        <a:t>10​</a:t>
                      </a:r>
                      <a:endParaRPr lang="en-US" dirty="0">
                        <a:effectLst/>
                      </a:endParaRPr>
                    </a:p>
                  </a:txBody>
                  <a:tcPr/>
                </a:tc>
                <a:tc>
                  <a:txBody>
                    <a:bodyPr/>
                    <a:lstStyle/>
                    <a:p>
                      <a:pPr fontAlgn="base"/>
                      <a:r>
                        <a:rPr lang="en-US" sz="1800" dirty="0">
                          <a:effectLst/>
                        </a:rPr>
                        <a:t>33​%</a:t>
                      </a:r>
                      <a:endParaRPr lang="en-US" dirty="0">
                        <a:effectLst/>
                      </a:endParaRPr>
                    </a:p>
                  </a:txBody>
                  <a:tcPr/>
                </a:tc>
                <a:tc>
                  <a:txBody>
                    <a:bodyPr/>
                    <a:lstStyle/>
                    <a:p>
                      <a:pPr fontAlgn="base"/>
                      <a:r>
                        <a:rPr lang="en-US" sz="1800" dirty="0">
                          <a:effectLst/>
                        </a:rPr>
                        <a:t>0.54​</a:t>
                      </a:r>
                      <a:endParaRPr lang="en-US" dirty="0">
                        <a:effectLst/>
                      </a:endParaRPr>
                    </a:p>
                  </a:txBody>
                  <a:tcPr/>
                </a:tc>
                <a:tc>
                  <a:txBody>
                    <a:bodyPr/>
                    <a:lstStyle/>
                    <a:p>
                      <a:pPr fontAlgn="base"/>
                      <a:r>
                        <a:rPr lang="en-US" sz="1800" dirty="0">
                          <a:effectLst/>
                        </a:rPr>
                        <a:t>50%</a:t>
                      </a:r>
                      <a:endParaRPr lang="en-US" dirty="0">
                        <a:effectLst/>
                      </a:endParaRPr>
                    </a:p>
                  </a:txBody>
                  <a:tcPr/>
                </a:tc>
                <a:tc>
                  <a:txBody>
                    <a:bodyPr/>
                    <a:lstStyle/>
                    <a:p>
                      <a:pPr fontAlgn="base"/>
                      <a:r>
                        <a:rPr lang="en-US" sz="1800" dirty="0">
                          <a:effectLst/>
                        </a:rPr>
                        <a:t>5​0%</a:t>
                      </a:r>
                      <a:endParaRPr lang="en-US" dirty="0">
                        <a:effectLst/>
                      </a:endParaRPr>
                    </a:p>
                  </a:txBody>
                  <a:tcPr/>
                </a:tc>
                <a:extLst>
                  <a:ext uri="{0D108BD9-81ED-4DB2-BD59-A6C34878D82A}">
                    <a16:rowId xmlns:a16="http://schemas.microsoft.com/office/drawing/2014/main" val="2530612705"/>
                  </a:ext>
                </a:extLst>
              </a:tr>
            </a:tbl>
          </a:graphicData>
        </a:graphic>
      </p:graphicFrame>
      <p:sp>
        <p:nvSpPr>
          <p:cNvPr id="10" name="TextBox 9">
            <a:extLst>
              <a:ext uri="{FF2B5EF4-FFF2-40B4-BE49-F238E27FC236}">
                <a16:creationId xmlns:a16="http://schemas.microsoft.com/office/drawing/2014/main" id="{40252645-A79A-4505-AF66-4AB6F9A86A4F}"/>
              </a:ext>
            </a:extLst>
          </p:cNvPr>
          <p:cNvSpPr txBox="1"/>
          <p:nvPr/>
        </p:nvSpPr>
        <p:spPr>
          <a:xfrm>
            <a:off x="1059083" y="6209816"/>
            <a:ext cx="1035355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1 is positive, 0 is negative</a:t>
            </a:r>
          </a:p>
          <a:p>
            <a:r>
              <a:rPr lang="en-US" dirty="0">
                <a:ea typeface="Calibri"/>
                <a:cs typeface="Calibri"/>
              </a:rPr>
              <a:t>* For rejection report, if too little rejections (&lt;100), would suggest not to conduct as too little for analysis</a:t>
            </a:r>
          </a:p>
        </p:txBody>
      </p:sp>
    </p:spTree>
    <p:extLst>
      <p:ext uri="{BB962C8B-B14F-4D97-AF65-F5344CB8AC3E}">
        <p14:creationId xmlns:p14="http://schemas.microsoft.com/office/powerpoint/2010/main" val="1069983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descr="Chart, bubble chart&#10;&#10;Description automatically generated">
            <a:extLst>
              <a:ext uri="{FF2B5EF4-FFF2-40B4-BE49-F238E27FC236}">
                <a16:creationId xmlns:a16="http://schemas.microsoft.com/office/drawing/2014/main" id="{CA1B6A3B-46B3-44C2-A17B-A35C18797DC2}"/>
              </a:ext>
            </a:extLst>
          </p:cNvPr>
          <p:cNvPicPr>
            <a:picLocks noChangeAspect="1"/>
          </p:cNvPicPr>
          <p:nvPr/>
        </p:nvPicPr>
        <p:blipFill>
          <a:blip r:embed="rId2"/>
          <a:stretch>
            <a:fillRect/>
          </a:stretch>
        </p:blipFill>
        <p:spPr>
          <a:xfrm>
            <a:off x="7073770" y="3353"/>
            <a:ext cx="5312735" cy="3422182"/>
          </a:xfrm>
          <a:prstGeom prst="rect">
            <a:avLst/>
          </a:prstGeom>
        </p:spPr>
      </p:pic>
      <p:sp>
        <p:nvSpPr>
          <p:cNvPr id="2" name="Title 1">
            <a:extLst>
              <a:ext uri="{FF2B5EF4-FFF2-40B4-BE49-F238E27FC236}">
                <a16:creationId xmlns:a16="http://schemas.microsoft.com/office/drawing/2014/main" id="{BC786741-51F0-47A6-B1C2-E862D175F601}"/>
              </a:ext>
            </a:extLst>
          </p:cNvPr>
          <p:cNvSpPr>
            <a:spLocks noGrp="1"/>
          </p:cNvSpPr>
          <p:nvPr>
            <p:ph type="title"/>
          </p:nvPr>
        </p:nvSpPr>
        <p:spPr/>
        <p:txBody>
          <a:bodyPr/>
          <a:lstStyle/>
          <a:p>
            <a:r>
              <a:rPr lang="en-US" dirty="0">
                <a:ea typeface="Calibri Light"/>
                <a:cs typeface="Calibri Light"/>
              </a:rPr>
              <a:t>What Users Say About You</a:t>
            </a:r>
            <a:endParaRPr lang="en-US" dirty="0"/>
          </a:p>
        </p:txBody>
      </p:sp>
      <p:sp>
        <p:nvSpPr>
          <p:cNvPr id="10" name="TextBox 9">
            <a:extLst>
              <a:ext uri="{FF2B5EF4-FFF2-40B4-BE49-F238E27FC236}">
                <a16:creationId xmlns:a16="http://schemas.microsoft.com/office/drawing/2014/main" id="{40252645-A79A-4505-AF66-4AB6F9A86A4F}"/>
              </a:ext>
            </a:extLst>
          </p:cNvPr>
          <p:cNvSpPr txBox="1"/>
          <p:nvPr/>
        </p:nvSpPr>
        <p:spPr>
          <a:xfrm>
            <a:off x="1059083" y="6209816"/>
            <a:ext cx="1035355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1 is positive, 0 is negative</a:t>
            </a:r>
          </a:p>
          <a:p>
            <a:r>
              <a:rPr lang="en-US" dirty="0">
                <a:ea typeface="Calibri"/>
                <a:cs typeface="Calibri"/>
              </a:rPr>
              <a:t>* For rejection report, if too little rejections (&lt;100), would suggest not to conduct as too little for analysis</a:t>
            </a:r>
          </a:p>
        </p:txBody>
      </p:sp>
      <p:graphicFrame>
        <p:nvGraphicFramePr>
          <p:cNvPr id="6" name="Table 5">
            <a:extLst>
              <a:ext uri="{FF2B5EF4-FFF2-40B4-BE49-F238E27FC236}">
                <a16:creationId xmlns:a16="http://schemas.microsoft.com/office/drawing/2014/main" id="{135AC3A2-713F-4FD3-ACC0-E084A32DC497}"/>
              </a:ext>
            </a:extLst>
          </p:cNvPr>
          <p:cNvGraphicFramePr>
            <a:graphicFrameLocks noGrp="1"/>
          </p:cNvGraphicFramePr>
          <p:nvPr>
            <p:extLst>
              <p:ext uri="{D42A27DB-BD31-4B8C-83A1-F6EECF244321}">
                <p14:modId xmlns:p14="http://schemas.microsoft.com/office/powerpoint/2010/main" val="2598726582"/>
              </p:ext>
            </p:extLst>
          </p:nvPr>
        </p:nvGraphicFramePr>
        <p:xfrm>
          <a:off x="398721" y="3411278"/>
          <a:ext cx="11555672" cy="2581673"/>
        </p:xfrm>
        <a:graphic>
          <a:graphicData uri="http://schemas.openxmlformats.org/drawingml/2006/table">
            <a:tbl>
              <a:tblPr firstRow="1" bandRow="1">
                <a:tableStyleId>{5C22544A-7EE6-4342-B048-85BDC9FD1C3A}</a:tableStyleId>
              </a:tblPr>
              <a:tblGrid>
                <a:gridCol w="4183632">
                  <a:extLst>
                    <a:ext uri="{9D8B030D-6E8A-4147-A177-3AD203B41FA5}">
                      <a16:colId xmlns:a16="http://schemas.microsoft.com/office/drawing/2014/main" val="1927151092"/>
                    </a:ext>
                  </a:extLst>
                </a:gridCol>
                <a:gridCol w="1474408">
                  <a:extLst>
                    <a:ext uri="{9D8B030D-6E8A-4147-A177-3AD203B41FA5}">
                      <a16:colId xmlns:a16="http://schemas.microsoft.com/office/drawing/2014/main" val="4185118405"/>
                    </a:ext>
                  </a:extLst>
                </a:gridCol>
                <a:gridCol w="1474408">
                  <a:extLst>
                    <a:ext uri="{9D8B030D-6E8A-4147-A177-3AD203B41FA5}">
                      <a16:colId xmlns:a16="http://schemas.microsoft.com/office/drawing/2014/main" val="53682985"/>
                    </a:ext>
                  </a:extLst>
                </a:gridCol>
                <a:gridCol w="1474408">
                  <a:extLst>
                    <a:ext uri="{9D8B030D-6E8A-4147-A177-3AD203B41FA5}">
                      <a16:colId xmlns:a16="http://schemas.microsoft.com/office/drawing/2014/main" val="2165795617"/>
                    </a:ext>
                  </a:extLst>
                </a:gridCol>
                <a:gridCol w="1474408">
                  <a:extLst>
                    <a:ext uri="{9D8B030D-6E8A-4147-A177-3AD203B41FA5}">
                      <a16:colId xmlns:a16="http://schemas.microsoft.com/office/drawing/2014/main" val="1308681251"/>
                    </a:ext>
                  </a:extLst>
                </a:gridCol>
                <a:gridCol w="1474408">
                  <a:extLst>
                    <a:ext uri="{9D8B030D-6E8A-4147-A177-3AD203B41FA5}">
                      <a16:colId xmlns:a16="http://schemas.microsoft.com/office/drawing/2014/main" val="3621076040"/>
                    </a:ext>
                  </a:extLst>
                </a:gridCol>
              </a:tblGrid>
              <a:tr h="604283">
                <a:tc>
                  <a:txBody>
                    <a:bodyPr/>
                    <a:lstStyle/>
                    <a:p>
                      <a:pPr fontAlgn="b"/>
                      <a:r>
                        <a:rPr lang="en-US" sz="1800" dirty="0">
                          <a:effectLst/>
                        </a:rPr>
                        <a:t>Topic​​</a:t>
                      </a:r>
                      <a:endParaRPr lang="en-US" sz="1800" b="1" dirty="0">
                        <a:solidFill>
                          <a:srgbClr val="FFFFFF"/>
                        </a:solidFill>
                        <a:effectLst/>
                        <a:latin typeface="Calibri" panose="020F0502020204030204" pitchFamily="34" charset="0"/>
                      </a:endParaRPr>
                    </a:p>
                  </a:txBody>
                  <a:tcPr marL="9525" marR="9525" marT="9525" anchor="b"/>
                </a:tc>
                <a:tc>
                  <a:txBody>
                    <a:bodyPr/>
                    <a:lstStyle/>
                    <a:p>
                      <a:pPr fontAlgn="b"/>
                      <a:r>
                        <a:rPr lang="en-US" sz="1800" dirty="0">
                          <a:effectLst/>
                        </a:rPr>
                        <a:t># reviews​​</a:t>
                      </a:r>
                      <a:endParaRPr lang="en-US" sz="1800" b="1" dirty="0">
                        <a:solidFill>
                          <a:srgbClr val="FFFFFF"/>
                        </a:solidFill>
                        <a:effectLst/>
                        <a:latin typeface="Calibri" panose="020F0502020204030204" pitchFamily="34" charset="0"/>
                      </a:endParaRPr>
                    </a:p>
                  </a:txBody>
                  <a:tcPr marL="9525" marR="9525" marT="9525" anchor="b"/>
                </a:tc>
                <a:tc>
                  <a:txBody>
                    <a:bodyPr/>
                    <a:lstStyle/>
                    <a:p>
                      <a:pPr fontAlgn="b"/>
                      <a:r>
                        <a:rPr lang="en-US" sz="1800" dirty="0">
                          <a:effectLst/>
                        </a:rPr>
                        <a:t>% of total​​</a:t>
                      </a:r>
                      <a:endParaRPr lang="en-US" sz="1800" b="1" dirty="0">
                        <a:solidFill>
                          <a:srgbClr val="FFFFFF"/>
                        </a:solidFill>
                        <a:effectLst/>
                        <a:latin typeface="Calibri" panose="020F0502020204030204" pitchFamily="34" charset="0"/>
                      </a:endParaRPr>
                    </a:p>
                  </a:txBody>
                  <a:tcPr marL="9525" marR="9525" marT="9525" anchor="b"/>
                </a:tc>
                <a:tc>
                  <a:txBody>
                    <a:bodyPr/>
                    <a:lstStyle/>
                    <a:p>
                      <a:pPr fontAlgn="b"/>
                      <a:r>
                        <a:rPr lang="en-US" sz="1800" dirty="0">
                          <a:effectLst/>
                        </a:rPr>
                        <a:t>Overall Sentiment Score (0-1)​​</a:t>
                      </a:r>
                      <a:endParaRPr lang="en-US" sz="1800" b="1" dirty="0">
                        <a:solidFill>
                          <a:srgbClr val="FFFFFF"/>
                        </a:solidFill>
                        <a:effectLst/>
                        <a:latin typeface="Calibri" panose="020F0502020204030204" pitchFamily="34" charset="0"/>
                      </a:endParaRPr>
                    </a:p>
                  </a:txBody>
                  <a:tcPr marL="9525" marR="9525" marT="9525" anchor="b"/>
                </a:tc>
                <a:tc>
                  <a:txBody>
                    <a:bodyPr/>
                    <a:lstStyle/>
                    <a:p>
                      <a:pPr fontAlgn="b"/>
                      <a:r>
                        <a:rPr lang="en-US" sz="1800" dirty="0">
                          <a:effectLst/>
                        </a:rPr>
                        <a:t>% positive reviews​​</a:t>
                      </a:r>
                      <a:endParaRPr lang="en-US" sz="1800" b="1" dirty="0">
                        <a:solidFill>
                          <a:srgbClr val="FFFFFF"/>
                        </a:solidFill>
                        <a:effectLst/>
                        <a:latin typeface="Calibri" panose="020F0502020204030204" pitchFamily="34" charset="0"/>
                      </a:endParaRPr>
                    </a:p>
                  </a:txBody>
                  <a:tcPr marL="9525" marR="9525" marT="9525" anchor="b"/>
                </a:tc>
                <a:tc>
                  <a:txBody>
                    <a:bodyPr/>
                    <a:lstStyle/>
                    <a:p>
                      <a:pPr fontAlgn="b"/>
                      <a:r>
                        <a:rPr lang="en-US" sz="1800" dirty="0">
                          <a:effectLst/>
                        </a:rPr>
                        <a:t>% negative reviews​​</a:t>
                      </a:r>
                      <a:endParaRPr lang="en-US" sz="1800" b="1" dirty="0">
                        <a:solidFill>
                          <a:srgbClr val="FFFFFF"/>
                        </a:solidFill>
                        <a:effectLst/>
                        <a:latin typeface="Calibri" panose="020F0502020204030204" pitchFamily="34" charset="0"/>
                      </a:endParaRPr>
                    </a:p>
                  </a:txBody>
                  <a:tcPr marL="9525" marR="9525" marT="9525" anchor="b"/>
                </a:tc>
                <a:extLst>
                  <a:ext uri="{0D108BD9-81ED-4DB2-BD59-A6C34878D82A}">
                    <a16:rowId xmlns:a16="http://schemas.microsoft.com/office/drawing/2014/main" val="861784841"/>
                  </a:ext>
                </a:extLst>
              </a:tr>
              <a:tr h="295275">
                <a:tc>
                  <a:txBody>
                    <a:bodyPr/>
                    <a:lstStyle/>
                    <a:p>
                      <a:pPr fontAlgn="b"/>
                      <a:r>
                        <a:rPr lang="en-US" sz="1800" b="1" dirty="0">
                          <a:effectLst/>
                        </a:rPr>
                        <a:t>Overall​​</a:t>
                      </a:r>
                      <a:endParaRPr lang="en-US" sz="1800" b="1" dirty="0">
                        <a:effectLst/>
                        <a:latin typeface="Calibri" panose="020F0502020204030204" pitchFamily="34" charset="0"/>
                      </a:endParaRPr>
                    </a:p>
                  </a:txBody>
                  <a:tcPr marL="9525" marR="9525" marT="9525" anchor="b"/>
                </a:tc>
                <a:tc>
                  <a:txBody>
                    <a:bodyPr/>
                    <a:lstStyle/>
                    <a:p>
                      <a:pPr algn="r" fontAlgn="b"/>
                      <a:r>
                        <a:rPr lang="en-US" sz="1800" b="1" dirty="0">
                          <a:effectLst/>
                        </a:rPr>
                        <a:t>2050</a:t>
                      </a:r>
                      <a:endParaRPr lang="en-US" sz="1800" b="1" dirty="0">
                        <a:effectLst/>
                        <a:latin typeface="Calibri" panose="020F0502020204030204" pitchFamily="34" charset="0"/>
                      </a:endParaRPr>
                    </a:p>
                  </a:txBody>
                  <a:tcPr marL="9525" marR="9525" marT="9525" anchor="b"/>
                </a:tc>
                <a:tc>
                  <a:txBody>
                    <a:bodyPr/>
                    <a:lstStyle/>
                    <a:p>
                      <a:pPr algn="r" fontAlgn="b"/>
                      <a:r>
                        <a:rPr lang="en-US" sz="1800" b="1" dirty="0">
                          <a:effectLst/>
                        </a:rPr>
                        <a:t>100%</a:t>
                      </a:r>
                      <a:endParaRPr lang="en-US" sz="1800" b="1" dirty="0">
                        <a:effectLst/>
                        <a:latin typeface="Calibri" panose="020F0502020204030204" pitchFamily="34" charset="0"/>
                      </a:endParaRPr>
                    </a:p>
                  </a:txBody>
                  <a:tcPr marL="9525" marR="9525" marT="9525" anchor="b"/>
                </a:tc>
                <a:tc>
                  <a:txBody>
                    <a:bodyPr/>
                    <a:lstStyle/>
                    <a:p>
                      <a:pPr algn="r" fontAlgn="b"/>
                      <a:r>
                        <a:rPr lang="en-US" sz="1800" b="1" dirty="0">
                          <a:effectLst/>
                        </a:rPr>
                        <a:t>0.566063415</a:t>
                      </a:r>
                      <a:endParaRPr lang="en-US" sz="1800" b="1" dirty="0">
                        <a:effectLst/>
                        <a:latin typeface="Calibri" panose="020F0502020204030204" pitchFamily="34" charset="0"/>
                      </a:endParaRPr>
                    </a:p>
                  </a:txBody>
                  <a:tcPr marL="9525" marR="9525" marT="9525" anchor="b"/>
                </a:tc>
                <a:tc>
                  <a:txBody>
                    <a:bodyPr/>
                    <a:lstStyle/>
                    <a:p>
                      <a:pPr algn="r" fontAlgn="b"/>
                      <a:r>
                        <a:rPr lang="en-US" sz="1800" b="1" dirty="0">
                          <a:effectLst/>
                        </a:rPr>
                        <a:t>67%</a:t>
                      </a:r>
                      <a:endParaRPr lang="en-US" sz="1800" b="1" dirty="0">
                        <a:effectLst/>
                        <a:latin typeface="Calibri" panose="020F0502020204030204" pitchFamily="34" charset="0"/>
                      </a:endParaRPr>
                    </a:p>
                  </a:txBody>
                  <a:tcPr marL="9525" marR="9525" marT="9525" anchor="b"/>
                </a:tc>
                <a:tc>
                  <a:txBody>
                    <a:bodyPr/>
                    <a:lstStyle/>
                    <a:p>
                      <a:pPr algn="r" fontAlgn="b"/>
                      <a:r>
                        <a:rPr lang="en-US" sz="1800" b="1" dirty="0">
                          <a:effectLst/>
                        </a:rPr>
                        <a:t>33%</a:t>
                      </a:r>
                      <a:endParaRPr lang="en-US" sz="1800" b="1" dirty="0">
                        <a:effectLst/>
                        <a:latin typeface="Calibri" panose="020F0502020204030204" pitchFamily="34" charset="0"/>
                      </a:endParaRPr>
                    </a:p>
                  </a:txBody>
                  <a:tcPr marL="9525" marR="9525" marT="9525" anchor="b"/>
                </a:tc>
                <a:extLst>
                  <a:ext uri="{0D108BD9-81ED-4DB2-BD59-A6C34878D82A}">
                    <a16:rowId xmlns:a16="http://schemas.microsoft.com/office/drawing/2014/main" val="1589273889"/>
                  </a:ext>
                </a:extLst>
              </a:tr>
              <a:tr h="295275">
                <a:tc>
                  <a:txBody>
                    <a:bodyPr/>
                    <a:lstStyle/>
                    <a:p>
                      <a:pPr fontAlgn="b"/>
                      <a:r>
                        <a:rPr lang="en-US" sz="1800" dirty="0">
                          <a:effectLst/>
                        </a:rPr>
                        <a:t>Packaging​</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294</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14%</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0.59</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61%</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39%</a:t>
                      </a:r>
                      <a:endParaRPr lang="en-US" sz="1800" dirty="0">
                        <a:effectLst/>
                        <a:latin typeface="Calibri" panose="020F0502020204030204" pitchFamily="34" charset="0"/>
                      </a:endParaRPr>
                    </a:p>
                  </a:txBody>
                  <a:tcPr marL="9525" marR="9525" marT="9525" anchor="b"/>
                </a:tc>
                <a:extLst>
                  <a:ext uri="{0D108BD9-81ED-4DB2-BD59-A6C34878D82A}">
                    <a16:rowId xmlns:a16="http://schemas.microsoft.com/office/drawing/2014/main" val="2133351228"/>
                  </a:ext>
                </a:extLst>
              </a:tr>
              <a:tr h="295275">
                <a:tc>
                  <a:txBody>
                    <a:bodyPr/>
                    <a:lstStyle/>
                    <a:p>
                      <a:pPr fontAlgn="b"/>
                      <a:r>
                        <a:rPr lang="en-US" sz="1800" dirty="0">
                          <a:effectLst/>
                        </a:rPr>
                        <a:t>Product usability​</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465</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23%</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0.62</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63%</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37%</a:t>
                      </a:r>
                      <a:endParaRPr lang="en-US" sz="1800" dirty="0">
                        <a:effectLst/>
                        <a:latin typeface="Calibri" panose="020F0502020204030204" pitchFamily="34" charset="0"/>
                      </a:endParaRPr>
                    </a:p>
                  </a:txBody>
                  <a:tcPr marL="9525" marR="9525" marT="9525" anchor="b"/>
                </a:tc>
                <a:extLst>
                  <a:ext uri="{0D108BD9-81ED-4DB2-BD59-A6C34878D82A}">
                    <a16:rowId xmlns:a16="http://schemas.microsoft.com/office/drawing/2014/main" val="691765233"/>
                  </a:ext>
                </a:extLst>
              </a:tr>
              <a:tr h="295275">
                <a:tc>
                  <a:txBody>
                    <a:bodyPr/>
                    <a:lstStyle/>
                    <a:p>
                      <a:pPr fontAlgn="b"/>
                      <a:r>
                        <a:rPr lang="en-US" sz="1800" dirty="0">
                          <a:effectLst/>
                        </a:rPr>
                        <a:t>Comparison with competitors​</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362</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18%</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0.41</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35%</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65%</a:t>
                      </a:r>
                      <a:endParaRPr lang="en-US" sz="1800" dirty="0">
                        <a:effectLst/>
                        <a:latin typeface="Calibri" panose="020F0502020204030204" pitchFamily="34" charset="0"/>
                      </a:endParaRPr>
                    </a:p>
                  </a:txBody>
                  <a:tcPr marL="9525" marR="9525" marT="9525" anchor="b"/>
                </a:tc>
                <a:extLst>
                  <a:ext uri="{0D108BD9-81ED-4DB2-BD59-A6C34878D82A}">
                    <a16:rowId xmlns:a16="http://schemas.microsoft.com/office/drawing/2014/main" val="1987827131"/>
                  </a:ext>
                </a:extLst>
              </a:tr>
              <a:tr h="295275">
                <a:tc>
                  <a:txBody>
                    <a:bodyPr/>
                    <a:lstStyle/>
                    <a:p>
                      <a:pPr fontAlgn="b"/>
                      <a:r>
                        <a:rPr lang="en-US" sz="1800" dirty="0">
                          <a:effectLst/>
                        </a:rPr>
                        <a:t>Dimensions and weight​</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497</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24%</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0.49</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43%</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57%</a:t>
                      </a:r>
                      <a:endParaRPr lang="en-US" sz="1800" dirty="0">
                        <a:effectLst/>
                        <a:latin typeface="Calibri" panose="020F0502020204030204" pitchFamily="34" charset="0"/>
                      </a:endParaRPr>
                    </a:p>
                  </a:txBody>
                  <a:tcPr marL="9525" marR="9525" marT="9525" anchor="b"/>
                </a:tc>
                <a:extLst>
                  <a:ext uri="{0D108BD9-81ED-4DB2-BD59-A6C34878D82A}">
                    <a16:rowId xmlns:a16="http://schemas.microsoft.com/office/drawing/2014/main" val="2685406539"/>
                  </a:ext>
                </a:extLst>
              </a:tr>
              <a:tr h="295275">
                <a:tc>
                  <a:txBody>
                    <a:bodyPr/>
                    <a:lstStyle/>
                    <a:p>
                      <a:pPr fontAlgn="b"/>
                      <a:r>
                        <a:rPr lang="en-US" sz="1800" dirty="0">
                          <a:effectLst/>
                        </a:rPr>
                        <a:t>Comments on the brand​</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432</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21%</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0.71</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78%</a:t>
                      </a:r>
                      <a:endParaRPr lang="en-US" sz="1800" dirty="0">
                        <a:effectLst/>
                        <a:latin typeface="Calibri" panose="020F0502020204030204" pitchFamily="34" charset="0"/>
                      </a:endParaRPr>
                    </a:p>
                  </a:txBody>
                  <a:tcPr marL="9525" marR="9525" marT="9525" anchor="b"/>
                </a:tc>
                <a:tc>
                  <a:txBody>
                    <a:bodyPr/>
                    <a:lstStyle/>
                    <a:p>
                      <a:pPr algn="r" fontAlgn="b"/>
                      <a:r>
                        <a:rPr lang="en-US" sz="1800" dirty="0">
                          <a:effectLst/>
                        </a:rPr>
                        <a:t>22%</a:t>
                      </a:r>
                      <a:endParaRPr lang="en-US" sz="1800" dirty="0">
                        <a:effectLst/>
                        <a:latin typeface="Calibri" panose="020F0502020204030204" pitchFamily="34" charset="0"/>
                      </a:endParaRPr>
                    </a:p>
                  </a:txBody>
                  <a:tcPr marL="9525" marR="9525" marT="9525" anchor="b"/>
                </a:tc>
                <a:extLst>
                  <a:ext uri="{0D108BD9-81ED-4DB2-BD59-A6C34878D82A}">
                    <a16:rowId xmlns:a16="http://schemas.microsoft.com/office/drawing/2014/main" val="2688966227"/>
                  </a:ext>
                </a:extLst>
              </a:tr>
            </a:tbl>
          </a:graphicData>
        </a:graphic>
      </p:graphicFrame>
    </p:spTree>
    <p:extLst>
      <p:ext uri="{BB962C8B-B14F-4D97-AF65-F5344CB8AC3E}">
        <p14:creationId xmlns:p14="http://schemas.microsoft.com/office/powerpoint/2010/main" val="2311489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544C6-AE1E-4E62-B397-BA0D310A8E79}"/>
              </a:ext>
            </a:extLst>
          </p:cNvPr>
          <p:cNvSpPr>
            <a:spLocks noGrp="1"/>
          </p:cNvSpPr>
          <p:nvPr>
            <p:ph type="title"/>
          </p:nvPr>
        </p:nvSpPr>
        <p:spPr/>
        <p:txBody>
          <a:bodyPr/>
          <a:lstStyle/>
          <a:p>
            <a:r>
              <a:rPr lang="en-US" dirty="0">
                <a:cs typeface="Calibri Light"/>
              </a:rPr>
              <a:t>2. Demographics + Ratings</a:t>
            </a:r>
            <a:endParaRPr lang="en-US" dirty="0"/>
          </a:p>
        </p:txBody>
      </p:sp>
      <p:pic>
        <p:nvPicPr>
          <p:cNvPr id="4" name="Picture 4">
            <a:extLst>
              <a:ext uri="{FF2B5EF4-FFF2-40B4-BE49-F238E27FC236}">
                <a16:creationId xmlns:a16="http://schemas.microsoft.com/office/drawing/2014/main" id="{0AFE1C55-73BF-4029-A7F2-931B1168AF79}"/>
              </a:ext>
            </a:extLst>
          </p:cNvPr>
          <p:cNvPicPr>
            <a:picLocks noGrp="1" noChangeAspect="1"/>
          </p:cNvPicPr>
          <p:nvPr>
            <p:ph idx="1"/>
          </p:nvPr>
        </p:nvPicPr>
        <p:blipFill>
          <a:blip r:embed="rId2"/>
          <a:stretch>
            <a:fillRect/>
          </a:stretch>
        </p:blipFill>
        <p:spPr>
          <a:xfrm>
            <a:off x="283951" y="1536258"/>
            <a:ext cx="4351338" cy="4351338"/>
          </a:xfrm>
        </p:spPr>
      </p:pic>
      <p:pic>
        <p:nvPicPr>
          <p:cNvPr id="5" name="Picture 5" descr="Timeline&#10;&#10;Description automatically generated">
            <a:extLst>
              <a:ext uri="{FF2B5EF4-FFF2-40B4-BE49-F238E27FC236}">
                <a16:creationId xmlns:a16="http://schemas.microsoft.com/office/drawing/2014/main" id="{28A8E91D-2AE2-47E2-BD13-5820DF4C5015}"/>
              </a:ext>
            </a:extLst>
          </p:cNvPr>
          <p:cNvPicPr>
            <a:picLocks noChangeAspect="1"/>
          </p:cNvPicPr>
          <p:nvPr/>
        </p:nvPicPr>
        <p:blipFill>
          <a:blip r:embed="rId3"/>
          <a:stretch>
            <a:fillRect/>
          </a:stretch>
        </p:blipFill>
        <p:spPr>
          <a:xfrm>
            <a:off x="4328932" y="1823678"/>
            <a:ext cx="4305782" cy="3914770"/>
          </a:xfrm>
          <a:prstGeom prst="rect">
            <a:avLst/>
          </a:prstGeom>
        </p:spPr>
      </p:pic>
      <p:pic>
        <p:nvPicPr>
          <p:cNvPr id="6" name="Picture 6" descr="A picture containing website&#10;&#10;Description automatically generated">
            <a:extLst>
              <a:ext uri="{FF2B5EF4-FFF2-40B4-BE49-F238E27FC236}">
                <a16:creationId xmlns:a16="http://schemas.microsoft.com/office/drawing/2014/main" id="{24370F57-356B-45EE-8400-5655D911F4FE}"/>
              </a:ext>
            </a:extLst>
          </p:cNvPr>
          <p:cNvPicPr>
            <a:picLocks noChangeAspect="1"/>
          </p:cNvPicPr>
          <p:nvPr/>
        </p:nvPicPr>
        <p:blipFill>
          <a:blip r:embed="rId4"/>
          <a:stretch>
            <a:fillRect/>
          </a:stretch>
        </p:blipFill>
        <p:spPr>
          <a:xfrm>
            <a:off x="8341489" y="2003044"/>
            <a:ext cx="3794567" cy="3565683"/>
          </a:xfrm>
          <a:prstGeom prst="rect">
            <a:avLst/>
          </a:prstGeom>
        </p:spPr>
      </p:pic>
    </p:spTree>
    <p:extLst>
      <p:ext uri="{BB962C8B-B14F-4D97-AF65-F5344CB8AC3E}">
        <p14:creationId xmlns:p14="http://schemas.microsoft.com/office/powerpoint/2010/main" val="397630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1619D-4F63-4221-A34F-8B39E4A31743}"/>
              </a:ext>
            </a:extLst>
          </p:cNvPr>
          <p:cNvSpPr>
            <a:spLocks noGrp="1"/>
          </p:cNvSpPr>
          <p:nvPr>
            <p:ph type="title"/>
          </p:nvPr>
        </p:nvSpPr>
        <p:spPr/>
        <p:txBody>
          <a:bodyPr/>
          <a:lstStyle/>
          <a:p>
            <a:r>
              <a:rPr lang="en-US" dirty="0">
                <a:ea typeface="+mj-lt"/>
                <a:cs typeface="+mj-lt"/>
              </a:rPr>
              <a:t>2. Demographics + Ratings</a:t>
            </a:r>
          </a:p>
        </p:txBody>
      </p:sp>
      <p:sp>
        <p:nvSpPr>
          <p:cNvPr id="3" name="Content Placeholder 2">
            <a:extLst>
              <a:ext uri="{FF2B5EF4-FFF2-40B4-BE49-F238E27FC236}">
                <a16:creationId xmlns:a16="http://schemas.microsoft.com/office/drawing/2014/main" id="{4B82C007-9374-4A64-A5C6-7D2486CD9E2F}"/>
              </a:ext>
            </a:extLst>
          </p:cNvPr>
          <p:cNvSpPr>
            <a:spLocks noGrp="1"/>
          </p:cNvSpPr>
          <p:nvPr>
            <p:ph idx="1"/>
          </p:nvPr>
        </p:nvSpPr>
        <p:spPr/>
        <p:txBody>
          <a:bodyPr vert="horz" lIns="91440" tIns="45720" rIns="91440" bIns="45720" rtlCol="0" anchor="t">
            <a:normAutofit/>
          </a:bodyPr>
          <a:lstStyle/>
          <a:p>
            <a:r>
              <a:rPr lang="en-US" dirty="0">
                <a:cs typeface="Calibri"/>
              </a:rPr>
              <a:t>For this, we can automatically test different combinations of the most relevant demographic combinations (age group, gender, etc.) to show the client which segment of the population like the product the most/the least.</a:t>
            </a:r>
          </a:p>
          <a:p>
            <a:endParaRPr lang="en-US" dirty="0">
              <a:cs typeface="Calibri"/>
            </a:endParaRPr>
          </a:p>
          <a:p>
            <a:pPr marL="0" indent="0">
              <a:buNone/>
            </a:pPr>
            <a:r>
              <a:rPr lang="en-US" dirty="0">
                <a:cs typeface="Calibri"/>
              </a:rPr>
              <a:t>Ie.</a:t>
            </a:r>
          </a:p>
          <a:p>
            <a:r>
              <a:rPr lang="en-US" dirty="0">
                <a:cs typeface="Calibri"/>
              </a:rPr>
              <a:t>Your product is liked best by "Females between 26-30!"</a:t>
            </a:r>
          </a:p>
          <a:p>
            <a:r>
              <a:rPr lang="en-US" dirty="0">
                <a:cs typeface="Calibri"/>
              </a:rPr>
              <a:t>Your product is found to be High Quality by "Males between 19-25!"</a:t>
            </a:r>
          </a:p>
          <a:p>
            <a:endParaRPr lang="en-US" dirty="0">
              <a:cs typeface="Calibri"/>
            </a:endParaRPr>
          </a:p>
          <a:p>
            <a:pPr marL="0" indent="0">
              <a:buNone/>
            </a:pPr>
            <a:endParaRPr lang="en-US" dirty="0">
              <a:cs typeface="Calibri"/>
            </a:endParaRPr>
          </a:p>
        </p:txBody>
      </p:sp>
    </p:spTree>
    <p:extLst>
      <p:ext uri="{BB962C8B-B14F-4D97-AF65-F5344CB8AC3E}">
        <p14:creationId xmlns:p14="http://schemas.microsoft.com/office/powerpoint/2010/main" val="3793449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B093E-D131-4760-B5A4-9B62781F5F8C}"/>
              </a:ext>
            </a:extLst>
          </p:cNvPr>
          <p:cNvSpPr>
            <a:spLocks noGrp="1"/>
          </p:cNvSpPr>
          <p:nvPr>
            <p:ph type="title"/>
          </p:nvPr>
        </p:nvSpPr>
        <p:spPr/>
        <p:txBody>
          <a:bodyPr/>
          <a:lstStyle/>
          <a:p>
            <a:r>
              <a:rPr lang="en-US" dirty="0">
                <a:cs typeface="Calibri Light"/>
              </a:rPr>
              <a:t>Suggestion</a:t>
            </a:r>
            <a:endParaRPr lang="en-US" dirty="0"/>
          </a:p>
        </p:txBody>
      </p:sp>
      <p:sp>
        <p:nvSpPr>
          <p:cNvPr id="3" name="Content Placeholder 2">
            <a:extLst>
              <a:ext uri="{FF2B5EF4-FFF2-40B4-BE49-F238E27FC236}">
                <a16:creationId xmlns:a16="http://schemas.microsoft.com/office/drawing/2014/main" id="{4635B358-B2A8-4AF2-ADB2-6FEF1ECD47AD}"/>
              </a:ext>
            </a:extLst>
          </p:cNvPr>
          <p:cNvSpPr>
            <a:spLocks noGrp="1"/>
          </p:cNvSpPr>
          <p:nvPr>
            <p:ph idx="1"/>
          </p:nvPr>
        </p:nvSpPr>
        <p:spPr/>
        <p:txBody>
          <a:bodyPr vert="horz" lIns="91440" tIns="45720" rIns="91440" bIns="45720" rtlCol="0" anchor="t">
            <a:normAutofit fontScale="92500"/>
          </a:bodyPr>
          <a:lstStyle/>
          <a:p>
            <a:r>
              <a:rPr lang="en-US" dirty="0">
                <a:ea typeface="+mn-lt"/>
                <a:cs typeface="+mn-lt"/>
              </a:rPr>
              <a:t>Can consider allowing clients to choose which segments of society (I.e. age group and gender, </a:t>
            </a:r>
            <a:r>
              <a:rPr lang="en-US" dirty="0" err="1">
                <a:ea typeface="+mn-lt"/>
                <a:cs typeface="+mn-lt"/>
              </a:rPr>
              <a:t>etc</a:t>
            </a:r>
            <a:r>
              <a:rPr lang="en-US" dirty="0">
                <a:ea typeface="+mn-lt"/>
                <a:cs typeface="+mn-lt"/>
              </a:rPr>
              <a:t>) that they want to focus the analysis on. Then we can run the entire code and analysis on (1) the entire dataset, and (2) only the segment(s) of the market that they are interested in, if any. Will be relevant to gender and age-oriented products</a:t>
            </a:r>
          </a:p>
          <a:p>
            <a:pPr lvl="1"/>
            <a:r>
              <a:rPr lang="en-US" dirty="0">
                <a:ea typeface="Calibri"/>
                <a:cs typeface="Calibri" panose="020F0502020204030204"/>
              </a:rPr>
              <a:t>For </a:t>
            </a:r>
            <a:r>
              <a:rPr lang="en-US" dirty="0" err="1">
                <a:ea typeface="Calibri"/>
                <a:cs typeface="Calibri" panose="020F0502020204030204"/>
              </a:rPr>
              <a:t>eg.</a:t>
            </a:r>
            <a:r>
              <a:rPr lang="en-US" dirty="0">
                <a:ea typeface="Calibri"/>
                <a:cs typeface="Calibri" panose="020F0502020204030204"/>
              </a:rPr>
              <a:t> Razer might "ignore" feedback from customers &gt;40 years old</a:t>
            </a:r>
          </a:p>
          <a:p>
            <a:endParaRPr lang="en-US" dirty="0">
              <a:cs typeface="Calibri" panose="020F0502020204030204"/>
            </a:endParaRPr>
          </a:p>
          <a:p>
            <a:r>
              <a:rPr lang="en-US" dirty="0">
                <a:cs typeface="Calibri" panose="020F0502020204030204"/>
              </a:rPr>
              <a:t>Can be a </a:t>
            </a:r>
            <a:r>
              <a:rPr lang="en-US" b="1" dirty="0">
                <a:cs typeface="Calibri" panose="020F0502020204030204"/>
              </a:rPr>
              <a:t>valued-added feature (for the future)</a:t>
            </a:r>
            <a:r>
              <a:rPr lang="en-US" dirty="0">
                <a:cs typeface="Calibri" panose="020F0502020204030204"/>
              </a:rPr>
              <a:t> where clients can choose to have our analysis done on multiple segments of the market, separately or together, for their own information. Customer has to decide which segments to test our analysis on.</a:t>
            </a:r>
          </a:p>
        </p:txBody>
      </p:sp>
    </p:spTree>
    <p:extLst>
      <p:ext uri="{BB962C8B-B14F-4D97-AF65-F5344CB8AC3E}">
        <p14:creationId xmlns:p14="http://schemas.microsoft.com/office/powerpoint/2010/main" val="13951604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Surprize Questions</vt:lpstr>
      <vt:lpstr>1. Open-ended questions</vt:lpstr>
      <vt:lpstr>PowerPoint Presentation</vt:lpstr>
      <vt:lpstr>Rejection Report</vt:lpstr>
      <vt:lpstr>What Users Say About You</vt:lpstr>
      <vt:lpstr>2. Demographics + Ratings</vt:lpstr>
      <vt:lpstr>2. Demographics + Ratings</vt:lpstr>
      <vt:lpstr>Suggestion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249</cp:revision>
  <dcterms:created xsi:type="dcterms:W3CDTF">2022-03-14T03:42:29Z</dcterms:created>
  <dcterms:modified xsi:type="dcterms:W3CDTF">2022-03-14T05:35:09Z</dcterms:modified>
</cp:coreProperties>
</file>